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" charset="1" panose="00000500000000000000"/>
      <p:regular r:id="rId13"/>
    </p:embeddedFont>
    <p:embeddedFont>
      <p:font typeface="Poppins Bold" charset="1" panose="00000800000000000000"/>
      <p:regular r:id="rId14"/>
    </p:embeddedFont>
    <p:embeddedFont>
      <p:font typeface="Roboto Bold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38398" y="5039699"/>
            <a:ext cx="3420902" cy="4218601"/>
          </a:xfrm>
          <a:custGeom>
            <a:avLst/>
            <a:gdLst/>
            <a:ahLst/>
            <a:cxnLst/>
            <a:rect r="r" b="b" t="t" l="l"/>
            <a:pathLst>
              <a:path h="4218601" w="3420902">
                <a:moveTo>
                  <a:pt x="0" y="0"/>
                </a:moveTo>
                <a:lnTo>
                  <a:pt x="3420902" y="0"/>
                </a:lnTo>
                <a:lnTo>
                  <a:pt x="3420902" y="4218601"/>
                </a:lnTo>
                <a:lnTo>
                  <a:pt x="0" y="4218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92548" y="3519566"/>
            <a:ext cx="2481426" cy="2084120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075846" y="6974562"/>
            <a:ext cx="2445770" cy="2283738"/>
          </a:xfrm>
          <a:custGeom>
            <a:avLst/>
            <a:gdLst/>
            <a:ahLst/>
            <a:cxnLst/>
            <a:rect r="r" b="b" t="t" l="l"/>
            <a:pathLst>
              <a:path h="2283738" w="2445770">
                <a:moveTo>
                  <a:pt x="0" y="0"/>
                </a:moveTo>
                <a:lnTo>
                  <a:pt x="2445771" y="0"/>
                </a:lnTo>
                <a:lnTo>
                  <a:pt x="2445771" y="2283738"/>
                </a:lnTo>
                <a:lnTo>
                  <a:pt x="0" y="228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5846" y="788440"/>
            <a:ext cx="5013117" cy="149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2"/>
              </a:lnSpc>
              <a:spcBef>
                <a:spcPct val="0"/>
              </a:spcBef>
            </a:pPr>
            <a:r>
              <a:rPr lang="en-US" sz="8423">
                <a:solidFill>
                  <a:srgbClr val="217389"/>
                </a:solidFill>
                <a:latin typeface="Poppins"/>
                <a:ea typeface="Poppins"/>
                <a:cs typeface="Poppins"/>
                <a:sym typeface="Poppins"/>
              </a:rPr>
              <a:t>study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77114" y="790575"/>
            <a:ext cx="3623699" cy="152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2"/>
              </a:lnSpc>
              <a:spcBef>
                <a:spcPct val="0"/>
              </a:spcBef>
            </a:pPr>
            <a:r>
              <a:rPr lang="en-US" b="true" sz="8423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8423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ash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16903"/>
            <a:ext cx="2326235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0C0C0D"/>
                </a:solidFill>
                <a:latin typeface="Roboto Bold"/>
                <a:ea typeface="Roboto Bold"/>
                <a:cs typeface="Roboto Bold"/>
                <a:sym typeface="Roboto Bold"/>
              </a:rPr>
              <a:t>AUTORES: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24087"/>
            <a:ext cx="5223585" cy="201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6"/>
              </a:lnSpc>
            </a:pPr>
            <a:r>
              <a:rPr lang="en-US" b="true" sz="2290">
                <a:solidFill>
                  <a:srgbClr val="0C0C0D"/>
                </a:solidFill>
                <a:latin typeface="Roboto Bold"/>
                <a:ea typeface="Roboto Bold"/>
                <a:cs typeface="Roboto Bold"/>
                <a:sym typeface="Roboto Bold"/>
              </a:rPr>
              <a:t>COSTANTINO CHIPOPA-20241231</a:t>
            </a:r>
          </a:p>
          <a:p>
            <a:pPr algn="just">
              <a:lnSpc>
                <a:spcPts val="3206"/>
              </a:lnSpc>
            </a:pPr>
            <a:r>
              <a:rPr lang="en-US" b="true" sz="2290">
                <a:solidFill>
                  <a:srgbClr val="0C0C0D"/>
                </a:solidFill>
                <a:latin typeface="Roboto Bold"/>
                <a:ea typeface="Roboto Bold"/>
                <a:cs typeface="Roboto Bold"/>
                <a:sym typeface="Roboto Bold"/>
              </a:rPr>
              <a:t>LUEJI COVILHÃ-20241725</a:t>
            </a:r>
          </a:p>
          <a:p>
            <a:pPr algn="just">
              <a:lnSpc>
                <a:spcPts val="3206"/>
              </a:lnSpc>
            </a:pPr>
            <a:r>
              <a:rPr lang="en-US" b="true" sz="2290">
                <a:solidFill>
                  <a:srgbClr val="0C0C0D"/>
                </a:solidFill>
                <a:latin typeface="Roboto Bold"/>
                <a:ea typeface="Roboto Bold"/>
                <a:cs typeface="Roboto Bold"/>
                <a:sym typeface="Roboto Bold"/>
              </a:rPr>
              <a:t>MARLINDA CONGO-20241718</a:t>
            </a:r>
          </a:p>
          <a:p>
            <a:pPr algn="just">
              <a:lnSpc>
                <a:spcPts val="3206"/>
              </a:lnSpc>
            </a:pPr>
            <a:r>
              <a:rPr lang="en-US" b="true" sz="2290">
                <a:solidFill>
                  <a:srgbClr val="0C0C0D"/>
                </a:solidFill>
                <a:latin typeface="Roboto Bold"/>
                <a:ea typeface="Roboto Bold"/>
                <a:cs typeface="Roboto Bold"/>
                <a:sym typeface="Roboto Bold"/>
              </a:rPr>
              <a:t>SAMUEL FERREIRA-20220755</a:t>
            </a:r>
          </a:p>
          <a:p>
            <a:pPr algn="just">
              <a:lnSpc>
                <a:spcPts val="3206"/>
              </a:lnSpc>
            </a:pPr>
            <a:r>
              <a:rPr lang="en-US" b="true" sz="2290">
                <a:solidFill>
                  <a:srgbClr val="0C0C0D"/>
                </a:solidFill>
                <a:latin typeface="Roboto Bold"/>
                <a:ea typeface="Roboto Bold"/>
                <a:cs typeface="Roboto Bold"/>
                <a:sym typeface="Roboto Bold"/>
              </a:rPr>
              <a:t>GILMA MULANDA - 20241087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7921" y="299807"/>
            <a:ext cx="5812158" cy="72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b="true" sz="4542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3091" y="1968549"/>
            <a:ext cx="3603807" cy="7289751"/>
          </a:xfrm>
          <a:custGeom>
            <a:avLst/>
            <a:gdLst/>
            <a:ahLst/>
            <a:cxnLst/>
            <a:rect r="r" b="b" t="t" l="l"/>
            <a:pathLst>
              <a:path h="7289751" w="3603807">
                <a:moveTo>
                  <a:pt x="0" y="0"/>
                </a:moveTo>
                <a:lnTo>
                  <a:pt x="3603807" y="0"/>
                </a:lnTo>
                <a:lnTo>
                  <a:pt x="3603807" y="7289751"/>
                </a:lnTo>
                <a:lnTo>
                  <a:pt x="0" y="7289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96102" y="1968549"/>
            <a:ext cx="3563198" cy="7289751"/>
          </a:xfrm>
          <a:custGeom>
            <a:avLst/>
            <a:gdLst/>
            <a:ahLst/>
            <a:cxnLst/>
            <a:rect r="r" b="b" t="t" l="l"/>
            <a:pathLst>
              <a:path h="7289751" w="3563198">
                <a:moveTo>
                  <a:pt x="0" y="0"/>
                </a:moveTo>
                <a:lnTo>
                  <a:pt x="3563198" y="0"/>
                </a:lnTo>
                <a:lnTo>
                  <a:pt x="3563198" y="7289751"/>
                </a:lnTo>
                <a:lnTo>
                  <a:pt x="0" y="7289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16898" y="1949499"/>
            <a:ext cx="3324091" cy="390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B0A0B"/>
                </a:solidFill>
                <a:latin typeface="Poppins Bold"/>
                <a:ea typeface="Poppins Bold"/>
                <a:cs typeface="Poppins Bold"/>
                <a:sym typeface="Poppins Bold"/>
              </a:rPr>
              <a:t>Mostra o saldo atual, total de receitas e despesas.</a:t>
            </a:r>
          </a:p>
          <a:p>
            <a:pPr algn="just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B0A0B"/>
                </a:solidFill>
                <a:latin typeface="Poppins Bold"/>
                <a:ea typeface="Poppins Bold"/>
                <a:cs typeface="Poppins Bold"/>
                <a:sym typeface="Poppins Bold"/>
              </a:rPr>
              <a:t>Exibe as transações recentes para um acompanhamento rápido do dinheiro.</a:t>
            </a:r>
          </a:p>
          <a:p>
            <a:pPr algn="just">
              <a:lnSpc>
                <a:spcPts val="280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45083" y="5989330"/>
            <a:ext cx="3791951" cy="321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1332" indent="-275666" lvl="1">
              <a:lnSpc>
                <a:spcPts val="2987"/>
              </a:lnSpc>
              <a:buFont typeface="Arial"/>
              <a:buChar char="•"/>
            </a:pPr>
            <a:r>
              <a:rPr lang="en-US" b="true" sz="2553">
                <a:solidFill>
                  <a:srgbClr val="0B0A0B"/>
                </a:solidFill>
                <a:latin typeface="Poppins Bold"/>
                <a:ea typeface="Poppins Bold"/>
                <a:cs typeface="Poppins Bold"/>
                <a:sym typeface="Poppins Bold"/>
              </a:rPr>
              <a:t>Apresenta o histórico completo de receitas e despesas.</a:t>
            </a:r>
          </a:p>
          <a:p>
            <a:pPr algn="just" marL="551332" indent="-275666" lvl="1">
              <a:lnSpc>
                <a:spcPts val="2987"/>
              </a:lnSpc>
              <a:buFont typeface="Arial"/>
              <a:buChar char="•"/>
            </a:pPr>
            <a:r>
              <a:rPr lang="en-US" b="true" sz="2553">
                <a:solidFill>
                  <a:srgbClr val="0B0A0B"/>
                </a:solidFill>
                <a:latin typeface="Poppins Bold"/>
                <a:ea typeface="Poppins Bold"/>
                <a:cs typeface="Poppins Bold"/>
                <a:sym typeface="Poppins Bold"/>
              </a:rPr>
              <a:t>Possui filtros e pesquisa para facilitar a gestão financeira.</a:t>
            </a:r>
          </a:p>
          <a:p>
            <a:pPr algn="just">
              <a:lnSpc>
                <a:spcPts val="17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5479" y="1000125"/>
            <a:ext cx="5117041" cy="66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b="true" sz="4194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2101954"/>
            <a:ext cx="3517867" cy="7156346"/>
          </a:xfrm>
          <a:custGeom>
            <a:avLst/>
            <a:gdLst/>
            <a:ahLst/>
            <a:cxnLst/>
            <a:rect r="r" b="b" t="t" l="l"/>
            <a:pathLst>
              <a:path h="7156346" w="3517867">
                <a:moveTo>
                  <a:pt x="0" y="0"/>
                </a:moveTo>
                <a:lnTo>
                  <a:pt x="3517867" y="0"/>
                </a:lnTo>
                <a:lnTo>
                  <a:pt x="3517867" y="7156346"/>
                </a:lnTo>
                <a:lnTo>
                  <a:pt x="0" y="7156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50544" y="2101954"/>
            <a:ext cx="3608756" cy="7156346"/>
          </a:xfrm>
          <a:custGeom>
            <a:avLst/>
            <a:gdLst/>
            <a:ahLst/>
            <a:cxnLst/>
            <a:rect r="r" b="b" t="t" l="l"/>
            <a:pathLst>
              <a:path h="7156346" w="3608756">
                <a:moveTo>
                  <a:pt x="0" y="0"/>
                </a:moveTo>
                <a:lnTo>
                  <a:pt x="3608756" y="0"/>
                </a:lnTo>
                <a:lnTo>
                  <a:pt x="3608756" y="7156346"/>
                </a:lnTo>
                <a:lnTo>
                  <a:pt x="0" y="7156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32110" y="2295906"/>
            <a:ext cx="3906739" cy="284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D"/>
                </a:solidFill>
                <a:latin typeface="Poppins Bold"/>
                <a:ea typeface="Poppins Bold"/>
                <a:cs typeface="Poppins Bold"/>
                <a:sym typeface="Poppins Bold"/>
              </a:rPr>
              <a:t>Permite inserir novas transações com título, valor, categoria e data.</a:t>
            </a:r>
          </a:p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D"/>
                </a:solidFill>
                <a:latin typeface="Poppins Bold"/>
                <a:ea typeface="Poppins Bold"/>
                <a:cs typeface="Poppins Bold"/>
                <a:sym typeface="Poppins Bold"/>
              </a:rPr>
              <a:t>Garante o controlo detalhado das finanças pessoais.</a:t>
            </a:r>
          </a:p>
          <a:p>
            <a:pPr algn="ctr">
              <a:lnSpc>
                <a:spcPts val="280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01476" y="5661077"/>
            <a:ext cx="4049069" cy="355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D"/>
                </a:solidFill>
                <a:latin typeface="Poppins Bold"/>
                <a:ea typeface="Poppins Bold"/>
                <a:cs typeface="Poppins Bold"/>
                <a:sym typeface="Poppins Bold"/>
              </a:rPr>
              <a:t>Mostra o progresso dos gastos em relação ao orçamento definido.</a:t>
            </a:r>
          </a:p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D"/>
                </a:solidFill>
                <a:latin typeface="Poppins Bold"/>
                <a:ea typeface="Poppins Bold"/>
                <a:cs typeface="Poppins Bold"/>
                <a:sym typeface="Poppins Bold"/>
              </a:rPr>
              <a:t>Exibe gráficos e percentagens por categoria para uma visão clara dos gastos.</a:t>
            </a:r>
          </a:p>
          <a:p>
            <a:pPr algn="ctr">
              <a:lnSpc>
                <a:spcPts val="28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5479" y="1000125"/>
            <a:ext cx="5117041" cy="66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b="true" sz="4194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2632699"/>
            <a:ext cx="3275473" cy="6625601"/>
          </a:xfrm>
          <a:custGeom>
            <a:avLst/>
            <a:gdLst/>
            <a:ahLst/>
            <a:cxnLst/>
            <a:rect r="r" b="b" t="t" l="l"/>
            <a:pathLst>
              <a:path h="6625601" w="3275473">
                <a:moveTo>
                  <a:pt x="0" y="0"/>
                </a:moveTo>
                <a:lnTo>
                  <a:pt x="3275473" y="0"/>
                </a:lnTo>
                <a:lnTo>
                  <a:pt x="3275473" y="6625601"/>
                </a:lnTo>
                <a:lnTo>
                  <a:pt x="0" y="6625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60824" y="2436045"/>
            <a:ext cx="3398476" cy="6625601"/>
          </a:xfrm>
          <a:custGeom>
            <a:avLst/>
            <a:gdLst/>
            <a:ahLst/>
            <a:cxnLst/>
            <a:rect r="r" b="b" t="t" l="l"/>
            <a:pathLst>
              <a:path h="6625601" w="3398476">
                <a:moveTo>
                  <a:pt x="0" y="0"/>
                </a:moveTo>
                <a:lnTo>
                  <a:pt x="3398476" y="0"/>
                </a:lnTo>
                <a:lnTo>
                  <a:pt x="3398476" y="6625600"/>
                </a:lnTo>
                <a:lnTo>
                  <a:pt x="0" y="6625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18208" y="6600300"/>
            <a:ext cx="5042615" cy="249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D"/>
                </a:solidFill>
                <a:latin typeface="Poppins Bold"/>
                <a:ea typeface="Poppins Bold"/>
                <a:cs typeface="Poppins Bold"/>
                <a:sym typeface="Poppins Bold"/>
              </a:rPr>
              <a:t>Reúne informações pessoais e estatísticas financeiras do utilizador.</a:t>
            </a:r>
          </a:p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D"/>
                </a:solidFill>
                <a:latin typeface="Poppins Bold"/>
                <a:ea typeface="Poppins Bold"/>
                <a:cs typeface="Poppins Bold"/>
                <a:sym typeface="Poppins Bold"/>
              </a:rPr>
              <a:t>Possibilita ativar notificações e gerir as metas de economia.</a:t>
            </a:r>
          </a:p>
          <a:p>
            <a:pPr algn="l">
              <a:lnSpc>
                <a:spcPts val="280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304173" y="2613649"/>
            <a:ext cx="3602185" cy="284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C"/>
                </a:solidFill>
                <a:latin typeface="Poppins Bold"/>
                <a:ea typeface="Poppins Bold"/>
                <a:cs typeface="Poppins Bold"/>
                <a:sym typeface="Poppins Bold"/>
              </a:rPr>
              <a:t>Permite definir e acompanhar objetivos de poupança.</a:t>
            </a:r>
          </a:p>
          <a:p>
            <a:pPr algn="l" marL="518160" indent="-259080" lvl="1">
              <a:lnSpc>
                <a:spcPts val="2808"/>
              </a:lnSpc>
              <a:buFont typeface="Arial"/>
              <a:buChar char="•"/>
            </a:pPr>
            <a:r>
              <a:rPr lang="en-US" b="true" sz="2400">
                <a:solidFill>
                  <a:srgbClr val="0C0C0C"/>
                </a:solidFill>
                <a:latin typeface="Poppins Bold"/>
                <a:ea typeface="Poppins Bold"/>
                <a:cs typeface="Poppins Bold"/>
                <a:sym typeface="Poppins Bold"/>
              </a:rPr>
              <a:t>Exibe o progresso e valor restante para atingir cada meta.</a:t>
            </a:r>
          </a:p>
          <a:p>
            <a:pPr algn="l">
              <a:lnSpc>
                <a:spcPts val="28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64978" y="1000125"/>
            <a:ext cx="3558045" cy="6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3"/>
              </a:lnSpc>
            </a:pPr>
            <a:r>
              <a:rPr lang="en-US" b="true" sz="4123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28331" y="1655775"/>
            <a:ext cx="14631339" cy="7938330"/>
          </a:xfrm>
          <a:custGeom>
            <a:avLst/>
            <a:gdLst/>
            <a:ahLst/>
            <a:cxnLst/>
            <a:rect r="r" b="b" t="t" l="l"/>
            <a:pathLst>
              <a:path h="7938330" w="14631339">
                <a:moveTo>
                  <a:pt x="0" y="0"/>
                </a:moveTo>
                <a:lnTo>
                  <a:pt x="14631338" y="0"/>
                </a:lnTo>
                <a:lnTo>
                  <a:pt x="14631338" y="7938331"/>
                </a:lnTo>
                <a:lnTo>
                  <a:pt x="0" y="7938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5" t="-3557" r="-123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7634" y="2049270"/>
            <a:ext cx="13552733" cy="7709602"/>
          </a:xfrm>
          <a:custGeom>
            <a:avLst/>
            <a:gdLst/>
            <a:ahLst/>
            <a:cxnLst/>
            <a:rect r="r" b="b" t="t" l="l"/>
            <a:pathLst>
              <a:path h="7709602" w="13552733">
                <a:moveTo>
                  <a:pt x="0" y="0"/>
                </a:moveTo>
                <a:lnTo>
                  <a:pt x="13552732" y="0"/>
                </a:lnTo>
                <a:lnTo>
                  <a:pt x="13552732" y="7709602"/>
                </a:lnTo>
                <a:lnTo>
                  <a:pt x="0" y="7709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4" t="-5" r="-9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64978" y="1000125"/>
            <a:ext cx="3558045" cy="6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3"/>
              </a:lnSpc>
            </a:pPr>
            <a:r>
              <a:rPr lang="en-US" b="true" sz="4123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17034" y="4264639"/>
            <a:ext cx="7453932" cy="151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2"/>
              </a:lnSpc>
              <a:spcBef>
                <a:spcPct val="0"/>
              </a:spcBef>
            </a:pPr>
            <a:r>
              <a:rPr lang="en-US" b="true" sz="8423">
                <a:solidFill>
                  <a:srgbClr val="217389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457187" y="8269147"/>
            <a:ext cx="802113" cy="989153"/>
          </a:xfrm>
          <a:custGeom>
            <a:avLst/>
            <a:gdLst/>
            <a:ahLst/>
            <a:cxnLst/>
            <a:rect r="r" b="b" t="t" l="l"/>
            <a:pathLst>
              <a:path h="989153" w="802113">
                <a:moveTo>
                  <a:pt x="0" y="0"/>
                </a:moveTo>
                <a:lnTo>
                  <a:pt x="802113" y="0"/>
                </a:lnTo>
                <a:lnTo>
                  <a:pt x="802113" y="989153"/>
                </a:lnTo>
                <a:lnTo>
                  <a:pt x="0" y="989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DAG4fAjNKuE</dc:identifier>
  <dcterms:modified xsi:type="dcterms:W3CDTF">2011-08-01T06:04:30Z</dcterms:modified>
  <cp:revision>1</cp:revision>
  <dc:title>Cash</dc:title>
</cp:coreProperties>
</file>